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embeddedFontLst>
    <p:embeddedFont>
      <p:font typeface="Gill Sans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8CAE984-B297-4B9B-9871-F7A60B562E02}">
  <a:tblStyle styleId="{38CAE984-B297-4B9B-9871-F7A60B562E0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GillSans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GillSans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96968fe7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96968fe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96968fe7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96968fe7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96968fe75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96968fe7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96968fe75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96968fe75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96968fe75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96968fe75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96968fe75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96968fe75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96968fe75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96968fe75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96968fe75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96968fe75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96968fe75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96968fe75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96968fe75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d96968fe75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96968fe75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d96968fe75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96968fe75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d96968fe75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96968fe75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96968fe75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96968fe75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d96968fe75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96968fe75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d96968fe75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96968fe75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d96968fe75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96968fe75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d96968fe75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96968fe75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d96968fe75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96968fe75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d96968fe75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d96968fe75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d96968fe75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96968fe75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d96968fe75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ithub.com/audreycs/MentalManip/tree/main/mentalmanip_dataset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mukundacharya-iith/mental-manipulation/tree/main/data/processed" TargetMode="External"/><Relationship Id="rId4" Type="http://schemas.openxmlformats.org/officeDocument/2006/relationships/hyperlink" Target="https://github.com/mukundacharya-iith/mental-manipulation/blob/main/data/processed/processed_con.csv" TargetMode="External"/><Relationship Id="rId5" Type="http://schemas.openxmlformats.org/officeDocument/2006/relationships/hyperlink" Target="https://github.com/mukundacharya-iith/mental-manipulation/blob/main/data/processed/processed_maj.csv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ithub.com/mukundacharya-iith/mental-manipulation/blob/main/src/preprocess.py" TargetMode="External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github.com/mukundacharya-iith/mental-manipulation/blob/main/testing/test-data.txt" TargetMode="External"/><Relationship Id="rId4" Type="http://schemas.openxmlformats.org/officeDocument/2006/relationships/hyperlink" Target="https://github.com/mukundacharya-iith/mental-manipulation/blob/main/testing/clean-finetune-lora-results.txt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295350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2400">
                <a:latin typeface="Gill Sans"/>
                <a:ea typeface="Gill Sans"/>
                <a:cs typeface="Gill Sans"/>
                <a:sym typeface="Gill Sans"/>
              </a:rPr>
              <a:t>P2: Manipulation-Aware Refusal Mechanisms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410488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Mukund N Acharya - CS25MTECH15012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Vishal B - CS25MTECH15026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 and Motivation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L</a:t>
            </a:r>
            <a:r>
              <a:rPr lang="en" sz="1400">
                <a:solidFill>
                  <a:schemeClr val="dk1"/>
                </a:solidFill>
              </a:rPr>
              <a:t>LMs undergo extensive safety fine tuning to avoid harmful or potentially toxic generations. Few jailb</a:t>
            </a:r>
            <a:r>
              <a:rPr lang="en" sz="1400">
                <a:solidFill>
                  <a:schemeClr val="dk1"/>
                </a:solidFill>
              </a:rPr>
              <a:t>reak attempts have show that it's possible to manipulate these models to coerce it into generating the potentially toxic text.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Our aim is to develop a competent mental manipulation detection system that quantitatively assesses user input. By assigning a </a:t>
            </a:r>
            <a:r>
              <a:rPr b="1" lang="en" sz="1400">
                <a:solidFill>
                  <a:schemeClr val="dk1"/>
                </a:solidFill>
              </a:rPr>
              <a:t>manipulation s</a:t>
            </a:r>
            <a:r>
              <a:rPr b="1" lang="en" sz="1400">
                <a:solidFill>
                  <a:schemeClr val="dk1"/>
                </a:solidFill>
              </a:rPr>
              <a:t>cor</a:t>
            </a:r>
            <a:r>
              <a:rPr b="1" lang="en" sz="1400">
                <a:solidFill>
                  <a:schemeClr val="dk1"/>
                </a:solidFill>
              </a:rPr>
              <a:t>e</a:t>
            </a:r>
            <a:r>
              <a:rPr lang="en" sz="1400">
                <a:solidFill>
                  <a:schemeClr val="dk1"/>
                </a:solidFill>
              </a:rPr>
              <a:t> to each sentence, the system provides a real-time safety signal that identifies coercive psychological tactics—such as gaslighting or isolation—allowing for more robust and resilient AI guardrails.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Definition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28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Dataset Acquisition</a:t>
            </a:r>
            <a:r>
              <a:rPr lang="en" sz="1400">
                <a:solidFill>
                  <a:schemeClr val="dk1"/>
                </a:solidFill>
              </a:rPr>
              <a:t>: Utilize labeled dialogue datasets to distinguish between manipulative and non-manipulative (control) utterances.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Data Engineering</a:t>
            </a:r>
            <a:r>
              <a:rPr lang="en" sz="1400">
                <a:solidFill>
                  <a:schemeClr val="dk1"/>
                </a:solidFill>
              </a:rPr>
              <a:t>: Perform cleaning, feature selection, and tokenization to transform raw text into model-ready tensors.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Model Training:</a:t>
            </a:r>
            <a:r>
              <a:rPr lang="en" sz="1400">
                <a:solidFill>
                  <a:schemeClr val="dk1"/>
                </a:solidFill>
              </a:rPr>
              <a:t> Apply NLP architectures to the processed data to calculate a quantitative </a:t>
            </a:r>
            <a:r>
              <a:rPr b="1" lang="en" sz="1400">
                <a:solidFill>
                  <a:schemeClr val="dk1"/>
                </a:solidFill>
              </a:rPr>
              <a:t>manipulation</a:t>
            </a:r>
            <a:r>
              <a:rPr b="1" lang="en" sz="1400">
                <a:solidFill>
                  <a:schemeClr val="dk1"/>
                </a:solidFill>
              </a:rPr>
              <a:t> score</a:t>
            </a:r>
            <a:r>
              <a:rPr lang="en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Contextual Detectio</a:t>
            </a:r>
            <a:r>
              <a:rPr b="1" lang="en" sz="1400">
                <a:solidFill>
                  <a:schemeClr val="dk1"/>
                </a:solidFill>
              </a:rPr>
              <a:t>n</a:t>
            </a:r>
            <a:r>
              <a:rPr lang="en" sz="1400">
                <a:solidFill>
                  <a:schemeClr val="dk1"/>
                </a:solidFill>
              </a:rPr>
              <a:t>: Enable the model to identify manipulative intent within partial conversation contexts to ensure real-time recognition.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Dataset details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5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We used the MentalManip dataset present </a:t>
            </a:r>
            <a:r>
              <a:rPr lang="en" sz="14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here</a:t>
            </a:r>
            <a:r>
              <a:rPr lang="en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It consists of 2 datasets-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</a:rPr>
              <a:t>mentalmanip_con.csv</a:t>
            </a:r>
            <a:r>
              <a:rPr lang="en">
                <a:solidFill>
                  <a:schemeClr val="dk1"/>
                </a:solidFill>
              </a:rPr>
              <a:t> - This subset consists exclusively of high-consensus samples where </a:t>
            </a:r>
            <a:r>
              <a:rPr b="1" lang="en">
                <a:solidFill>
                  <a:schemeClr val="dk1"/>
                </a:solidFill>
              </a:rPr>
              <a:t>all </a:t>
            </a:r>
            <a:r>
              <a:rPr lang="en">
                <a:solidFill>
                  <a:schemeClr val="dk1"/>
                </a:solidFill>
              </a:rPr>
              <a:t>annotators reached a unanimous agreement on the manipulation label.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</a:rPr>
              <a:t>mentalmapip_maj.csv</a:t>
            </a:r>
            <a:r>
              <a:rPr lang="en">
                <a:solidFill>
                  <a:schemeClr val="dk1"/>
                </a:solidFill>
              </a:rPr>
              <a:t> - This dataset utilizes a majority agreement strategy to determine the ground-truth labels. Under this approach, the final label is assigned based on the consensus of most annotators. The data in consensus dataset are also present here.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Dataset statistics - 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</a:rPr>
              <a:t>Mentalmanip_con </a:t>
            </a:r>
            <a:r>
              <a:rPr lang="en">
                <a:solidFill>
                  <a:schemeClr val="dk1"/>
                </a:solidFill>
              </a:rPr>
              <a:t>has </a:t>
            </a:r>
            <a:r>
              <a:rPr b="1" lang="en">
                <a:solidFill>
                  <a:schemeClr val="dk1"/>
                </a:solidFill>
              </a:rPr>
              <a:t>2915 </a:t>
            </a:r>
            <a:r>
              <a:rPr lang="en">
                <a:solidFill>
                  <a:schemeClr val="dk1"/>
                </a:solidFill>
              </a:rPr>
              <a:t>dialogues with a manipulation to non-manipulation ratio of</a:t>
            </a:r>
            <a:r>
              <a:rPr b="1" lang="en">
                <a:solidFill>
                  <a:schemeClr val="dk1"/>
                </a:solidFill>
              </a:rPr>
              <a:t> 2.24:1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</a:rPr>
              <a:t>Mentalmapip_maj </a:t>
            </a:r>
            <a:r>
              <a:rPr lang="en">
                <a:solidFill>
                  <a:schemeClr val="dk1"/>
                </a:solidFill>
              </a:rPr>
              <a:t>has </a:t>
            </a:r>
            <a:r>
              <a:rPr b="1" lang="en">
                <a:solidFill>
                  <a:schemeClr val="dk1"/>
                </a:solidFill>
              </a:rPr>
              <a:t>4000 </a:t>
            </a:r>
            <a:r>
              <a:rPr lang="en">
                <a:solidFill>
                  <a:schemeClr val="dk1"/>
                </a:solidFill>
              </a:rPr>
              <a:t>dialogues with a manipulation to non-maipulation ratio of</a:t>
            </a:r>
            <a:r>
              <a:rPr b="1" lang="en">
                <a:solidFill>
                  <a:schemeClr val="dk1"/>
                </a:solidFill>
              </a:rPr>
              <a:t> 2.38:1</a:t>
            </a:r>
            <a:br>
              <a:rPr lang="en" sz="1400">
                <a:solidFill>
                  <a:schemeClr val="dk1"/>
                </a:solidFill>
              </a:rPr>
            </a:br>
            <a:endParaRPr b="1"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</a:t>
            </a:r>
            <a:r>
              <a:rPr lang="en"/>
              <a:t>preprocessing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The dataset had a lot of </a:t>
            </a:r>
            <a:r>
              <a:rPr lang="en" sz="1400">
                <a:solidFill>
                  <a:schemeClr val="dk1"/>
                </a:solidFill>
              </a:rPr>
              <a:t>column</a:t>
            </a:r>
            <a:r>
              <a:rPr lang="en" sz="1400">
                <a:solidFill>
                  <a:schemeClr val="dk1"/>
                </a:solidFill>
              </a:rPr>
              <a:t> which were not needed for our experiment, so there was a need for data preprocessing.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The following steps were followed-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</a:rPr>
              <a:t>Custom CSV Parsing</a:t>
            </a:r>
            <a:r>
              <a:rPr lang="en">
                <a:solidFill>
                  <a:schemeClr val="dk1"/>
                </a:solidFill>
              </a:rPr>
              <a:t>: To ensure data integrity, Python's native </a:t>
            </a:r>
            <a:r>
              <a:rPr i="1" lang="en">
                <a:solidFill>
                  <a:schemeClr val="dk1"/>
                </a:solidFill>
              </a:rPr>
              <a:t>csv </a:t>
            </a:r>
            <a:r>
              <a:rPr lang="en">
                <a:solidFill>
                  <a:schemeClr val="dk1"/>
                </a:solidFill>
              </a:rPr>
              <a:t>module was usednfor the initial load before converting to a Pandas DataFrame. This manual step was necessary because pandas.read_csv consistently misread certain column boundaries.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</a:rPr>
              <a:t>Column</a:t>
            </a:r>
            <a:r>
              <a:rPr b="1" lang="en">
                <a:solidFill>
                  <a:schemeClr val="dk1"/>
                </a:solidFill>
              </a:rPr>
              <a:t> selection and renaming</a:t>
            </a:r>
            <a:r>
              <a:rPr lang="en">
                <a:solidFill>
                  <a:schemeClr val="dk1"/>
                </a:solidFill>
              </a:rPr>
              <a:t>: Fetched only the </a:t>
            </a:r>
            <a:r>
              <a:rPr i="1" lang="en">
                <a:solidFill>
                  <a:schemeClr val="dk1"/>
                </a:solidFill>
              </a:rPr>
              <a:t>Dialogue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i="1" lang="en">
                <a:solidFill>
                  <a:schemeClr val="dk1"/>
                </a:solidFill>
              </a:rPr>
              <a:t>Manipulative </a:t>
            </a:r>
            <a:r>
              <a:rPr lang="en">
                <a:solidFill>
                  <a:schemeClr val="dk1"/>
                </a:solidFill>
              </a:rPr>
              <a:t>and </a:t>
            </a:r>
            <a:r>
              <a:rPr i="1" lang="en">
                <a:solidFill>
                  <a:schemeClr val="dk1"/>
                </a:solidFill>
              </a:rPr>
              <a:t>Technique </a:t>
            </a:r>
            <a:r>
              <a:rPr lang="en">
                <a:solidFill>
                  <a:schemeClr val="dk1"/>
                </a:solidFill>
              </a:rPr>
              <a:t>columns from the dataset and renamed them to </a:t>
            </a:r>
            <a:r>
              <a:rPr i="1" lang="en">
                <a:solidFill>
                  <a:schemeClr val="dk1"/>
                </a:solidFill>
              </a:rPr>
              <a:t>text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i="1" lang="en">
                <a:solidFill>
                  <a:schemeClr val="dk1"/>
                </a:solidFill>
              </a:rPr>
              <a:t>label </a:t>
            </a:r>
            <a:r>
              <a:rPr lang="en">
                <a:solidFill>
                  <a:schemeClr val="dk1"/>
                </a:solidFill>
              </a:rPr>
              <a:t>and </a:t>
            </a:r>
            <a:r>
              <a:rPr i="1" lang="en">
                <a:solidFill>
                  <a:schemeClr val="dk1"/>
                </a:solidFill>
              </a:rPr>
              <a:t>technique </a:t>
            </a:r>
            <a:r>
              <a:rPr lang="en">
                <a:solidFill>
                  <a:schemeClr val="dk1"/>
                </a:solidFill>
              </a:rPr>
              <a:t>respectively for standardization.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</a:rPr>
              <a:t>Handle Missing Values</a:t>
            </a:r>
            <a:r>
              <a:rPr lang="en">
                <a:solidFill>
                  <a:schemeClr val="dk1"/>
                </a:solidFill>
              </a:rPr>
              <a:t>: Dropped rows with missing text/label.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</a:rPr>
              <a:t>Clean the </a:t>
            </a:r>
            <a:r>
              <a:rPr b="1" i="1" lang="en">
                <a:solidFill>
                  <a:schemeClr val="dk1"/>
                </a:solidFill>
              </a:rPr>
              <a:t>text </a:t>
            </a:r>
            <a:r>
              <a:rPr b="1" lang="en">
                <a:solidFill>
                  <a:schemeClr val="dk1"/>
                </a:solidFill>
              </a:rPr>
              <a:t>column</a:t>
            </a:r>
            <a:r>
              <a:rPr lang="en">
                <a:solidFill>
                  <a:schemeClr val="dk1"/>
                </a:solidFill>
              </a:rPr>
              <a:t>: Convert to string and stripped whitespaces.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</a:rPr>
              <a:t>Normalization</a:t>
            </a:r>
            <a:r>
              <a:rPr lang="en">
                <a:solidFill>
                  <a:schemeClr val="dk1"/>
                </a:solidFill>
              </a:rPr>
              <a:t>: labels would have a binary value (0/1) and converted techniques to lowercase.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Processed Schema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The final processed con and maj datasets are present in the </a:t>
            </a:r>
            <a:r>
              <a:rPr i="1" lang="en" sz="1400" u="sng">
                <a:solidFill>
                  <a:schemeClr val="hlink"/>
                </a:solidFill>
                <a:hlinkClick r:id="rId3"/>
              </a:rPr>
              <a:t>data/processed</a:t>
            </a:r>
            <a:r>
              <a:rPr lang="en" sz="1400">
                <a:solidFill>
                  <a:schemeClr val="dk1"/>
                </a:solidFill>
              </a:rPr>
              <a:t> folder in our github repository named </a:t>
            </a:r>
            <a:r>
              <a:rPr i="1" lang="en" sz="1400" u="sng">
                <a:solidFill>
                  <a:schemeClr val="hlink"/>
                </a:solidFill>
                <a:hlinkClick r:id="rId4"/>
              </a:rPr>
              <a:t>processed_con.csv</a:t>
            </a:r>
            <a:r>
              <a:rPr lang="en" sz="1400">
                <a:solidFill>
                  <a:schemeClr val="dk1"/>
                </a:solidFill>
              </a:rPr>
              <a:t> and </a:t>
            </a:r>
            <a:r>
              <a:rPr i="1" lang="en" sz="1400" u="sng">
                <a:solidFill>
                  <a:schemeClr val="hlink"/>
                </a:solidFill>
                <a:hlinkClick r:id="rId5"/>
              </a:rPr>
              <a:t>processed_maj.csv</a:t>
            </a:r>
            <a:r>
              <a:rPr lang="en" sz="1400">
                <a:solidFill>
                  <a:schemeClr val="dk1"/>
                </a:solidFill>
              </a:rPr>
              <a:t> respectively.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graphicFrame>
        <p:nvGraphicFramePr>
          <p:cNvPr id="86" name="Google Shape;86;p18"/>
          <p:cNvGraphicFramePr/>
          <p:nvPr/>
        </p:nvGraphicFramePr>
        <p:xfrm>
          <a:off x="952500" y="19766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{38CAE984-B297-4B9B-9871-F7A60B562E02}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Column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Description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text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Input dialogue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label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Binary label (0/1) 1 indicates manipulation and 0 indicates non-manipulation - control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technique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Manipulation type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</a:t>
            </a:r>
            <a:r>
              <a:rPr lang="en"/>
              <a:t>Experiments</a:t>
            </a:r>
            <a:r>
              <a:rPr lang="en"/>
              <a:t> and Setups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7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Since MAJ and CON share the same dialogues, we designed three dataset splits and trained each on a baseline model to compare which dataset should be used for finetuning.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The 3 options for splits-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</a:rPr>
              <a:t>MAJ Only</a:t>
            </a:r>
            <a:r>
              <a:rPr lang="en">
                <a:solidFill>
                  <a:schemeClr val="dk1"/>
                </a:solidFill>
              </a:rPr>
              <a:t> (Noisy Baseline): The MAJ dataset was split into 80:10:10 for training, testing and validation respectively.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</a:rPr>
              <a:t>CON only</a:t>
            </a:r>
            <a:r>
              <a:rPr lang="en">
                <a:solidFill>
                  <a:schemeClr val="dk1"/>
                </a:solidFill>
              </a:rPr>
              <a:t> (Clean Upper Bound): The CON dataset was split into 80:10:10 for training, testing and validation respectively.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</a:rPr>
              <a:t>The Clean split</a:t>
            </a:r>
            <a:r>
              <a:rPr lang="en">
                <a:solidFill>
                  <a:schemeClr val="dk1"/>
                </a:solidFill>
              </a:rPr>
              <a:t> (MAJ + CON without leakage): This setup ensured  no dialogue overlap between train and test while mixing CON and MAJ dataset.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Step 1: </a:t>
            </a:r>
            <a:r>
              <a:rPr b="1" lang="en">
                <a:solidFill>
                  <a:schemeClr val="dk1"/>
                </a:solidFill>
              </a:rPr>
              <a:t>Split CON</a:t>
            </a:r>
            <a:r>
              <a:rPr lang="en">
                <a:solidFill>
                  <a:schemeClr val="dk1"/>
                </a:solidFill>
              </a:rPr>
              <a:t>: Split CON into 90% for training and 10% for testing only.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Step 2: </a:t>
            </a:r>
            <a:r>
              <a:rPr b="1" lang="en">
                <a:solidFill>
                  <a:schemeClr val="dk1"/>
                </a:solidFill>
              </a:rPr>
              <a:t>Identify Ambiguous Data</a:t>
            </a:r>
            <a:r>
              <a:rPr lang="en">
                <a:solidFill>
                  <a:schemeClr val="dk1"/>
                </a:solidFill>
              </a:rPr>
              <a:t>: Remove all the CON data overlap from MAJ, so that we only we have the dialogues where annotators disagreed.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Step 3: </a:t>
            </a:r>
            <a:r>
              <a:rPr b="1" lang="en">
                <a:solidFill>
                  <a:schemeClr val="dk1"/>
                </a:solidFill>
              </a:rPr>
              <a:t>Build Training Pool</a:t>
            </a:r>
            <a:r>
              <a:rPr lang="en">
                <a:solidFill>
                  <a:schemeClr val="dk1"/>
                </a:solidFill>
              </a:rPr>
              <a:t>: Training Pool = 90% CON + Ambiguous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Step 4: </a:t>
            </a:r>
            <a:r>
              <a:rPr b="1" lang="en">
                <a:solidFill>
                  <a:schemeClr val="dk1"/>
                </a:solidFill>
              </a:rPr>
              <a:t>Split Training for validation</a:t>
            </a:r>
            <a:r>
              <a:rPr lang="en">
                <a:solidFill>
                  <a:schemeClr val="dk1"/>
                </a:solidFill>
              </a:rPr>
              <a:t>: 90:10 split in training pool for training and validation respectively.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split sizes for 3 experiments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99" name="Google Shape;99;p20"/>
          <p:cNvGraphicFramePr/>
          <p:nvPr/>
        </p:nvGraphicFramePr>
        <p:xfrm>
          <a:off x="95250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{38CAE984-B297-4B9B-9871-F7A60B562E02}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Experiment Type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Train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Validation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Test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MAJ Only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3200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400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 Only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2332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292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292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Clean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3337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292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Generated Files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8520600" cy="36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This is </a:t>
            </a:r>
            <a:r>
              <a:rPr lang="en" sz="1400">
                <a:solidFill>
                  <a:schemeClr val="dk1"/>
                </a:solidFill>
              </a:rPr>
              <a:t>the</a:t>
            </a:r>
            <a:r>
              <a:rPr lang="en" sz="1400">
                <a:solidFill>
                  <a:schemeClr val="dk1"/>
                </a:solidFill>
              </a:rPr>
              <a:t> structure of the dataset splits present in the github repository after the split exercise was done in the </a:t>
            </a:r>
            <a:r>
              <a:rPr i="1" lang="en" sz="1400" u="sng">
                <a:solidFill>
                  <a:schemeClr val="hlink"/>
                </a:solidFill>
                <a:hlinkClick r:id="rId3"/>
              </a:rPr>
              <a:t>preprocess.py</a:t>
            </a:r>
            <a:r>
              <a:rPr lang="en" sz="1400">
                <a:solidFill>
                  <a:schemeClr val="dk1"/>
                </a:solidFill>
              </a:rPr>
              <a:t> file.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106" name="Google Shape;106;p21"/>
          <p:cNvPicPr preferRelativeResize="0"/>
          <p:nvPr/>
        </p:nvPicPr>
        <p:blipFill rotWithShape="1">
          <a:blip r:embed="rId4">
            <a:alphaModFix/>
          </a:blip>
          <a:srcRect b="0" l="0" r="5159" t="5159"/>
          <a:stretch/>
        </p:blipFill>
        <p:spPr>
          <a:xfrm>
            <a:off x="1473375" y="1801353"/>
            <a:ext cx="6197250" cy="285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Experiments done for training</a:t>
            </a:r>
            <a:endParaRPr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Experiment 1: Train all splits on a baseline DistilBERT model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WHY BERT?</a:t>
            </a:r>
            <a:endParaRPr b="1"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BERT captures meaning based on surrounding words, which helps detect subtle manipulation vs neutral language.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Proven performance on classification tasks, giving reliable results without needing massive data.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Works well with smaller datasets and supports techniques like LoRA, making training practical and fast.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We used </a:t>
            </a:r>
            <a:r>
              <a:rPr b="1" lang="en" sz="1400">
                <a:solidFill>
                  <a:schemeClr val="dk1"/>
                </a:solidFill>
              </a:rPr>
              <a:t>DistilBERT </a:t>
            </a:r>
            <a:r>
              <a:rPr lang="en" sz="1400">
                <a:solidFill>
                  <a:schemeClr val="dk1"/>
                </a:solidFill>
              </a:rPr>
              <a:t>for our use case for the following reasons-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DistilBERT has ~40% fewer parameters than BERT, so it trains and runs much faster.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Retains ~95% of BERT’s accuracy while being much more efficient.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Experiments done for training - Experiment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These were </a:t>
            </a:r>
            <a:r>
              <a:rPr lang="en" sz="1400">
                <a:solidFill>
                  <a:schemeClr val="dk1"/>
                </a:solidFill>
              </a:rPr>
              <a:t>the</a:t>
            </a:r>
            <a:r>
              <a:rPr lang="en" sz="1400">
                <a:solidFill>
                  <a:schemeClr val="dk1"/>
                </a:solidFill>
              </a:rPr>
              <a:t> model configurations for the baseline model for all 3 datasets.</a:t>
            </a:r>
            <a:endParaRPr sz="1400">
              <a:solidFill>
                <a:schemeClr val="dk1"/>
              </a:solidFill>
            </a:endParaRPr>
          </a:p>
          <a:p>
            <a:pPr indent="-30416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400">
                <a:solidFill>
                  <a:schemeClr val="dk1"/>
                </a:solidFill>
              </a:rPr>
              <a:t>Model - </a:t>
            </a:r>
            <a:r>
              <a:rPr b="1" lang="en" sz="1400">
                <a:solidFill>
                  <a:schemeClr val="dk1"/>
                </a:solidFill>
              </a:rPr>
              <a:t>DistilBERT</a:t>
            </a:r>
            <a:endParaRPr b="1" sz="1400">
              <a:solidFill>
                <a:schemeClr val="dk1"/>
              </a:solidFill>
            </a:endParaRPr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400">
                <a:solidFill>
                  <a:schemeClr val="dk1"/>
                </a:solidFill>
              </a:rPr>
              <a:t>Threshold used - </a:t>
            </a:r>
            <a:r>
              <a:rPr b="1" lang="en" sz="1400">
                <a:solidFill>
                  <a:schemeClr val="dk1"/>
                </a:solidFill>
              </a:rPr>
              <a:t>0.5</a:t>
            </a:r>
            <a:endParaRPr b="1" sz="1400">
              <a:solidFill>
                <a:schemeClr val="dk1"/>
              </a:solidFill>
            </a:endParaRPr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400">
                <a:solidFill>
                  <a:schemeClr val="dk1"/>
                </a:solidFill>
              </a:rPr>
              <a:t>Nothing </a:t>
            </a:r>
            <a:r>
              <a:rPr lang="en" sz="1400">
                <a:solidFill>
                  <a:schemeClr val="dk1"/>
                </a:solidFill>
              </a:rPr>
              <a:t>done for managing the class imbalance.</a:t>
            </a:r>
            <a:endParaRPr sz="1400">
              <a:solidFill>
                <a:schemeClr val="dk1"/>
              </a:solidFill>
            </a:endParaRPr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400">
                <a:solidFill>
                  <a:schemeClr val="dk1"/>
                </a:solidFill>
              </a:rPr>
              <a:t>5 </a:t>
            </a:r>
            <a:r>
              <a:rPr lang="en" sz="1400">
                <a:solidFill>
                  <a:schemeClr val="dk1"/>
                </a:solidFill>
              </a:rPr>
              <a:t>epochs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These are the metrics that were logged for each dataset training.</a:t>
            </a:r>
            <a:endParaRPr sz="1400">
              <a:solidFill>
                <a:schemeClr val="dk1"/>
              </a:solidFill>
            </a:endParaRPr>
          </a:p>
          <a:p>
            <a:pPr indent="-30416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400">
                <a:solidFill>
                  <a:schemeClr val="dk1"/>
                </a:solidFill>
              </a:rPr>
              <a:t>Accuracy</a:t>
            </a:r>
            <a:r>
              <a:rPr lang="en" sz="1400">
                <a:solidFill>
                  <a:schemeClr val="dk1"/>
                </a:solidFill>
              </a:rPr>
              <a:t>: The percentage of total predictions that were correct.</a:t>
            </a:r>
            <a:endParaRPr sz="1400">
              <a:solidFill>
                <a:schemeClr val="dk1"/>
              </a:solidFill>
            </a:endParaRPr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400">
                <a:solidFill>
                  <a:schemeClr val="dk1"/>
                </a:solidFill>
              </a:rPr>
              <a:t>Macro F1</a:t>
            </a:r>
            <a:r>
              <a:rPr lang="en" sz="1400">
                <a:solidFill>
                  <a:schemeClr val="dk1"/>
                </a:solidFill>
              </a:rPr>
              <a:t>: The unweighted average of F1 scores across all classes; used to evaluate performance on imbalanced data.</a:t>
            </a:r>
            <a:endParaRPr sz="1400">
              <a:solidFill>
                <a:schemeClr val="dk1"/>
              </a:solidFill>
            </a:endParaRPr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400">
                <a:solidFill>
                  <a:schemeClr val="dk1"/>
                </a:solidFill>
              </a:rPr>
              <a:t>Precision (Macro)</a:t>
            </a:r>
            <a:r>
              <a:rPr lang="en" sz="1400">
                <a:solidFill>
                  <a:schemeClr val="dk1"/>
                </a:solidFill>
              </a:rPr>
              <a:t>: The average proportion of predicted labels that were actually correct across all categories.</a:t>
            </a:r>
            <a:endParaRPr sz="1400">
              <a:solidFill>
                <a:schemeClr val="dk1"/>
              </a:solidFill>
            </a:endParaRPr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400">
                <a:solidFill>
                  <a:schemeClr val="dk1"/>
                </a:solidFill>
              </a:rPr>
              <a:t>Recall (Macro)</a:t>
            </a:r>
            <a:r>
              <a:rPr lang="en" sz="1400">
                <a:solidFill>
                  <a:schemeClr val="dk1"/>
                </a:solidFill>
              </a:rPr>
              <a:t>: The average ability of the model to find all actual instances of each category.</a:t>
            </a:r>
            <a:endParaRPr sz="1400">
              <a:solidFill>
                <a:schemeClr val="dk1"/>
              </a:solidFill>
            </a:endParaRPr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400">
                <a:solidFill>
                  <a:schemeClr val="dk1"/>
                </a:solidFill>
              </a:rPr>
              <a:t>Control Recall</a:t>
            </a:r>
            <a:r>
              <a:rPr lang="en" sz="1400">
                <a:solidFill>
                  <a:schemeClr val="dk1"/>
                </a:solidFill>
              </a:rPr>
              <a:t>: The model’s specific success rate in identifying neutral/non-manipulative utterances (Minority Class).</a:t>
            </a:r>
            <a:endParaRPr sz="1400">
              <a:solidFill>
                <a:schemeClr val="dk1"/>
              </a:solidFill>
            </a:endParaRPr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400">
                <a:solidFill>
                  <a:schemeClr val="dk1"/>
                </a:solidFill>
              </a:rPr>
              <a:t>Manipulation Recall</a:t>
            </a:r>
            <a:r>
              <a:rPr lang="en" sz="1400">
                <a:solidFill>
                  <a:schemeClr val="dk1"/>
                </a:solidFill>
              </a:rPr>
              <a:t>: The model’s specific success rate in identifying coercive/manipulative utterances (Majority Class).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Experiments done for training - Experiment 1 Results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311700" y="1034950"/>
            <a:ext cx="8520600" cy="19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25" name="Google Shape;125;p24"/>
          <p:cNvGraphicFramePr/>
          <p:nvPr/>
        </p:nvGraphicFramePr>
        <p:xfrm>
          <a:off x="381632" y="12107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{38CAE984-B297-4B9B-9871-F7A60B562E02}</a:tableStyleId>
              </a:tblPr>
              <a:tblGrid>
                <a:gridCol w="1197250"/>
                <a:gridCol w="1197250"/>
                <a:gridCol w="1197250"/>
                <a:gridCol w="1197250"/>
                <a:gridCol w="1197250"/>
                <a:gridCol w="1197250"/>
                <a:gridCol w="1197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Dataset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F1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 (Macro)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 (Macro)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Control</a:t>
                      </a:r>
                      <a:r>
                        <a:rPr lang="en"/>
                        <a:t> 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Manipulation Recall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MAJ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0.6525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0.6016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0.5992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0.6082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0.6781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0.6248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0.6241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0.6256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CLEAN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0.7226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0.6351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0.6680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0.6270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0.38 (!!)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0.88</a:t>
                      </a:r>
                      <a:endParaRPr b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6" name="Google Shape;126;p24"/>
          <p:cNvSpPr txBox="1"/>
          <p:nvPr/>
        </p:nvSpPr>
        <p:spPr>
          <a:xfrm>
            <a:off x="311700" y="3008900"/>
            <a:ext cx="8450700" cy="19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Analysis and Results</a:t>
            </a:r>
            <a:endParaRPr b="1" sz="18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CLEAN performs best overall</a:t>
            </a:r>
            <a:r>
              <a:rPr lang="en">
                <a:solidFill>
                  <a:schemeClr val="dk1"/>
                </a:solidFill>
              </a:rPr>
              <a:t>: It has the best accuracy + F1 Macro score, and thus has the best classification performance.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Strong class imbalance</a:t>
            </a:r>
            <a:r>
              <a:rPr lang="en">
                <a:solidFill>
                  <a:schemeClr val="dk1"/>
                </a:solidFill>
              </a:rPr>
              <a:t>: Control recall of 0.38 for CLEAN suggests bias towards manipulation label.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CLEAN dataset achieved the best overall performance, but still exhibited strong bias toward the manipulation class, motivating further improvements.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Experiments done for training - Experiment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From the first experiment, we can see that the CLEAN dataset split </a:t>
            </a:r>
            <a:r>
              <a:rPr lang="en" sz="1400">
                <a:solidFill>
                  <a:schemeClr val="dk1"/>
                </a:solidFill>
              </a:rPr>
              <a:t>performed</a:t>
            </a:r>
            <a:r>
              <a:rPr lang="en" sz="1400">
                <a:solidFill>
                  <a:schemeClr val="dk1"/>
                </a:solidFill>
              </a:rPr>
              <a:t> the best among the 3 dataset split. So from the this experiment onwards, we used the CLEAN dataset split.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Experiment 2: Train the CLEAN split on a Fine-tuned DistilBERT model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From the learnings of the first experiment, we added the following improvements-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b="1" lang="en">
                <a:solidFill>
                  <a:schemeClr val="dk1"/>
                </a:solidFill>
              </a:rPr>
              <a:t>Handled class imbalance using weighted loss</a:t>
            </a:r>
            <a:r>
              <a:rPr lang="en">
                <a:solidFill>
                  <a:schemeClr val="dk1"/>
                </a:solidFill>
              </a:rPr>
              <a:t>: Class weights were computed inversely proportional to class frequency, giving higher importance to the minority class. [1.69 , 0.71]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b="1" lang="en">
                <a:solidFill>
                  <a:schemeClr val="dk1"/>
                </a:solidFill>
              </a:rPr>
              <a:t>Introduced threshold tuning (instead of fixed 0.5)</a:t>
            </a:r>
            <a:r>
              <a:rPr lang="en">
                <a:solidFill>
                  <a:schemeClr val="dk1"/>
                </a:solidFill>
              </a:rPr>
              <a:t>: Instead of using a fixed 0.5 cutoff, we tuned the decision threshold on validation data to maximize macro F1 and achieve better class balance.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Experiments done for training - Experiment 2 Results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6"/>
          <p:cNvSpPr txBox="1"/>
          <p:nvPr>
            <p:ph idx="1" type="body"/>
          </p:nvPr>
        </p:nvSpPr>
        <p:spPr>
          <a:xfrm>
            <a:off x="311700" y="1152475"/>
            <a:ext cx="8520600" cy="24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Comparison</a:t>
            </a:r>
            <a:r>
              <a:rPr lang="en">
                <a:solidFill>
                  <a:schemeClr val="dk1"/>
                </a:solidFill>
              </a:rPr>
              <a:t> of metrics for Baseline vs </a:t>
            </a:r>
            <a:r>
              <a:rPr lang="en">
                <a:solidFill>
                  <a:schemeClr val="dk1"/>
                </a:solidFill>
              </a:rPr>
              <a:t>Fine-tuned: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139" name="Google Shape;139;p26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{38CAE984-B297-4B9B-9871-F7A60B562E02}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Metric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Baseline performance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Finetuned performance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0.72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F1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0.6351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0.649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Control 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0.66(!!)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Manipulation 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0.88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0" name="Google Shape;140;p26"/>
          <p:cNvSpPr txBox="1"/>
          <p:nvPr/>
        </p:nvSpPr>
        <p:spPr>
          <a:xfrm flipH="1">
            <a:off x="315150" y="3600250"/>
            <a:ext cx="8513700" cy="20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Analysis and Results</a:t>
            </a:r>
            <a:endParaRPr b="1" sz="18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Huge improvement in class balance</a:t>
            </a:r>
            <a:r>
              <a:rPr lang="en">
                <a:solidFill>
                  <a:schemeClr val="dk1"/>
                </a:solidFill>
              </a:rPr>
              <a:t>: Control recall improved from 0.38 to 0.66.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Slight drop in accuracy</a:t>
            </a:r>
            <a:r>
              <a:rPr lang="en">
                <a:solidFill>
                  <a:schemeClr val="dk1"/>
                </a:solidFill>
              </a:rPr>
              <a:t>: This is expected as model is no longer biased toward manipulation.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Due to this improvement, prediction became balanced and the model did not simply predict manipulation.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Experiments done for training - Experiment 2 Results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7"/>
          <p:cNvSpPr txBox="1"/>
          <p:nvPr>
            <p:ph idx="1" type="body"/>
          </p:nvPr>
        </p:nvSpPr>
        <p:spPr>
          <a:xfrm>
            <a:off x="311700" y="1152475"/>
            <a:ext cx="8520600" cy="286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With regards to threshold, these were the best thresholds for different epochs: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graphicFrame>
        <p:nvGraphicFramePr>
          <p:cNvPr id="147" name="Google Shape;147;p27"/>
          <p:cNvGraphicFramePr/>
          <p:nvPr/>
        </p:nvGraphicFramePr>
        <p:xfrm>
          <a:off x="952500" y="16447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{38CAE984-B297-4B9B-9871-F7A60B562E02}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Epoch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Best threshold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8" name="Google Shape;148;p27"/>
          <p:cNvSpPr txBox="1"/>
          <p:nvPr/>
        </p:nvSpPr>
        <p:spPr>
          <a:xfrm>
            <a:off x="316200" y="4010325"/>
            <a:ext cx="8520600" cy="11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What this means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We should not fix the threshold to 0.5, but can be varied from 0.4 to 0.65. This will be considered for thenext experiments.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Experiments done for training - Experiment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From the second experiment, we can see that the class imbalance was vastly improved and we felt the need to change the threshold value from the default 0.5 value.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We shifted from improving prediction quality (class balance and threshold tuning) to improving training efficiency by introducing </a:t>
            </a:r>
            <a:r>
              <a:rPr b="1" lang="en" sz="1400">
                <a:solidFill>
                  <a:schemeClr val="dk1"/>
                </a:solidFill>
              </a:rPr>
              <a:t>LoRA</a:t>
            </a:r>
            <a:r>
              <a:rPr lang="en" sz="1400">
                <a:solidFill>
                  <a:schemeClr val="dk1"/>
                </a:solidFill>
              </a:rPr>
              <a:t> (Low-Rank Adaptation), which fine-tunes only a small subset of parameters while retaining performance.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Experiment 3: Train the CLEAN split with Fine-tuned DistilBERT + LoRA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Ad</a:t>
            </a:r>
            <a:r>
              <a:rPr lang="en" sz="1400">
                <a:solidFill>
                  <a:schemeClr val="dk1"/>
                </a:solidFill>
              </a:rPr>
              <a:t>ded Low-Rank Adaptation (LoRA) on </a:t>
            </a:r>
            <a:r>
              <a:rPr lang="en" sz="1400">
                <a:solidFill>
                  <a:schemeClr val="dk1"/>
                </a:solidFill>
              </a:rPr>
              <a:t>top of our fine-tuned DistilBERT model from experiment 2.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Instead of </a:t>
            </a:r>
            <a:r>
              <a:rPr lang="en" sz="1400">
                <a:solidFill>
                  <a:schemeClr val="dk1"/>
                </a:solidFill>
              </a:rPr>
              <a:t>updating</a:t>
            </a:r>
            <a:r>
              <a:rPr lang="en" sz="1400">
                <a:solidFill>
                  <a:schemeClr val="dk1"/>
                </a:solidFill>
              </a:rPr>
              <a:t> the full </a:t>
            </a:r>
            <a:r>
              <a:rPr lang="en" sz="1400">
                <a:solidFill>
                  <a:schemeClr val="dk1"/>
                </a:solidFill>
              </a:rPr>
              <a:t>~</a:t>
            </a:r>
            <a:r>
              <a:rPr lang="en" sz="1400">
                <a:solidFill>
                  <a:schemeClr val="dk1"/>
                </a:solidFill>
              </a:rPr>
              <a:t>66M params of DistilBERT, only small LoRA layers (</a:t>
            </a:r>
            <a:r>
              <a:rPr lang="en" sz="1400">
                <a:solidFill>
                  <a:schemeClr val="dk1"/>
                </a:solidFill>
              </a:rPr>
              <a:t>~1-2%) are trained.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Class weights [1.69, 0.71] still used.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Still dynamically finds best threshold per epoch.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Experiments done for training - Experiment 3 Results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Comparison</a:t>
            </a:r>
            <a:r>
              <a:rPr lang="en">
                <a:solidFill>
                  <a:schemeClr val="dk1"/>
                </a:solidFill>
              </a:rPr>
              <a:t> of metrics for Baseline vs Fine-tined vs Fine-tuned + LoRA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161" name="Google Shape;161;p29"/>
          <p:cNvGraphicFramePr/>
          <p:nvPr/>
        </p:nvGraphicFramePr>
        <p:xfrm>
          <a:off x="952500" y="19295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{38CAE984-B297-4B9B-9871-F7A60B562E02}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Metric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Baseline Model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Fine-tuned model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Fine-tuned + LoRA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0.72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F1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0.635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0.649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0.662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Control</a:t>
                      </a:r>
                      <a:r>
                        <a:rPr lang="en"/>
                        <a:t> 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0.66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Manipulation</a:t>
                      </a:r>
                      <a:r>
                        <a:rPr lang="en"/>
                        <a:t> 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0.88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 (Macro)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0.67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Experiments done for training - Experiment 3 Results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With regards to threshold, these were the best thresholds for different epochs: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68" name="Google Shape;168;p30"/>
          <p:cNvGraphicFramePr/>
          <p:nvPr/>
        </p:nvGraphicFramePr>
        <p:xfrm>
          <a:off x="952500" y="16447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{38CAE984-B297-4B9B-9871-F7A60B562E02}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Epoch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Best threshold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Experiments done for training - Experiment 3 Results</a:t>
            </a:r>
            <a:endParaRPr/>
          </a:p>
        </p:txBody>
      </p:sp>
      <p:sp>
        <p:nvSpPr>
          <p:cNvPr id="174" name="Google Shape;174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Analysis/Results:</a:t>
            </a:r>
            <a:endParaRPr b="1">
              <a:solidFill>
                <a:schemeClr val="dk1"/>
              </a:solidFill>
            </a:endParaRPr>
          </a:p>
          <a:p>
            <a:pPr indent="-317500" lvl="0" marL="4572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LoRA reduces trainable parameters to ~1% of the full model (~0.7M vs ~66M).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LoRA + Fine-tuned DistilBERT seemed to perform well as compared to the previous experiments, as it has the highest Macro F1 (</a:t>
            </a:r>
            <a:r>
              <a:rPr b="1" lang="en" sz="1400">
                <a:solidFill>
                  <a:schemeClr val="dk1"/>
                </a:solidFill>
              </a:rPr>
              <a:t>0.662</a:t>
            </a:r>
            <a:r>
              <a:rPr lang="en" sz="1400">
                <a:solidFill>
                  <a:schemeClr val="dk1"/>
                </a:solidFill>
              </a:rPr>
              <a:t>)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LoRA improves performance but shifts balance: Control recall drops slightly (0.66 → 0.52), meaning manipulation becomes a bit strong yet again. This is the tradeoff </a:t>
            </a:r>
            <a:r>
              <a:rPr lang="en" sz="1400">
                <a:solidFill>
                  <a:schemeClr val="dk1"/>
                </a:solidFill>
              </a:rPr>
              <a:t>between</a:t>
            </a:r>
            <a:r>
              <a:rPr lang="en" sz="1400">
                <a:solidFill>
                  <a:schemeClr val="dk1"/>
                </a:solidFill>
              </a:rPr>
              <a:t> </a:t>
            </a:r>
            <a:r>
              <a:rPr b="1" lang="en" sz="1400">
                <a:solidFill>
                  <a:schemeClr val="dk1"/>
                </a:solidFill>
              </a:rPr>
              <a:t>balance and performance</a:t>
            </a:r>
            <a:r>
              <a:rPr lang="en" sz="1400">
                <a:solidFill>
                  <a:schemeClr val="dk1"/>
                </a:solidFill>
              </a:rPr>
              <a:t> that we could see.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Threshold value also stayed balanced between 0.6 to 0.65, much more </a:t>
            </a:r>
            <a:r>
              <a:rPr lang="en" sz="1400">
                <a:solidFill>
                  <a:schemeClr val="dk1"/>
                </a:solidFill>
              </a:rPr>
              <a:t>stable</a:t>
            </a:r>
            <a:r>
              <a:rPr lang="en" sz="1400">
                <a:solidFill>
                  <a:schemeClr val="dk1"/>
                </a:solidFill>
              </a:rPr>
              <a:t> from the fine-tune stage.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By combining class weighting, threshold tuning, and LoRA, we achieved a strong balance between </a:t>
            </a:r>
            <a:r>
              <a:rPr b="1" lang="en" sz="1400">
                <a:solidFill>
                  <a:schemeClr val="dk1"/>
                </a:solidFill>
              </a:rPr>
              <a:t>performance </a:t>
            </a:r>
            <a:r>
              <a:rPr lang="en" sz="1400">
                <a:solidFill>
                  <a:schemeClr val="dk1"/>
                </a:solidFill>
              </a:rPr>
              <a:t>and </a:t>
            </a:r>
            <a:r>
              <a:rPr b="1" lang="en" sz="1400">
                <a:solidFill>
                  <a:schemeClr val="dk1"/>
                </a:solidFill>
              </a:rPr>
              <a:t>fairness</a:t>
            </a:r>
            <a:r>
              <a:rPr lang="en" sz="1400">
                <a:solidFill>
                  <a:schemeClr val="dk1"/>
                </a:solidFill>
              </a:rPr>
              <a:t>. 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Putting the model to test</a:t>
            </a:r>
            <a:endParaRPr/>
          </a:p>
        </p:txBody>
      </p:sp>
      <p:sp>
        <p:nvSpPr>
          <p:cNvPr id="180" name="Google Shape;180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To test our final fine-tuned DistilBERT + LoRA model on new unseen data, we fetched a set of 10 random sentences, which were a mix of clear manipulation, clear control, and the "trickier" boundary cases.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The test sentences can be found </a:t>
            </a:r>
            <a:r>
              <a:rPr lang="en" sz="1400" u="sng">
                <a:solidFill>
                  <a:schemeClr val="hlink"/>
                </a:solidFill>
                <a:hlinkClick r:id="rId3"/>
              </a:rPr>
              <a:t>here</a:t>
            </a:r>
            <a:r>
              <a:rPr lang="en" sz="1400">
                <a:solidFill>
                  <a:schemeClr val="dk1"/>
                </a:solidFill>
              </a:rPr>
              <a:t> anf the model results at 0.6 threshold can be found </a:t>
            </a:r>
            <a:r>
              <a:rPr lang="en" sz="1400" u="sng">
                <a:solidFill>
                  <a:schemeClr val="hlink"/>
                </a:solidFill>
                <a:hlinkClick r:id="rId4"/>
              </a:rPr>
              <a:t>here</a:t>
            </a:r>
            <a:r>
              <a:rPr lang="en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Below are the insights from the test-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en">
                <a:solidFill>
                  <a:schemeClr val="dk1"/>
                </a:solidFill>
              </a:rPr>
              <a:t>What it caught well: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b="1" lang="en">
                <a:solidFill>
                  <a:schemeClr val="dk1"/>
                </a:solidFill>
              </a:rPr>
              <a:t>Direct Guilt-Tripping</a:t>
            </a:r>
            <a:r>
              <a:rPr lang="en">
                <a:solidFill>
                  <a:schemeClr val="dk1"/>
                </a:solidFill>
              </a:rPr>
              <a:t>: Successfully flagged "If you actually cared..." with a high confidence of 0.90.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b="1" lang="en">
                <a:solidFill>
                  <a:schemeClr val="dk1"/>
                </a:solidFill>
              </a:rPr>
              <a:t>Masked Control</a:t>
            </a:r>
            <a:r>
              <a:rPr lang="en">
                <a:solidFill>
                  <a:schemeClr val="dk1"/>
                </a:solidFill>
              </a:rPr>
              <a:t>: Corrected identified "I'm only controlling who you see..." as manipulation (0.84).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b="1" lang="en">
                <a:solidFill>
                  <a:schemeClr val="dk1"/>
                </a:solidFill>
              </a:rPr>
              <a:t>Neutral Professionalism</a:t>
            </a:r>
            <a:r>
              <a:rPr lang="en">
                <a:solidFill>
                  <a:schemeClr val="dk1"/>
                </a:solidFill>
              </a:rPr>
              <a:t>: Correctly gave a very high control score (0.89) to the meeting schedule request.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Putting the model to test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Wh</a:t>
            </a:r>
            <a:r>
              <a:rPr lang="en" sz="1400">
                <a:solidFill>
                  <a:schemeClr val="dk1"/>
                </a:solidFill>
              </a:rPr>
              <a:t>e</a:t>
            </a:r>
            <a:r>
              <a:rPr lang="en" sz="1400">
                <a:solidFill>
                  <a:schemeClr val="dk1"/>
                </a:solidFill>
              </a:rPr>
              <a:t>re it missed or struggled (The "Grey Area"):</a:t>
            </a:r>
            <a:r>
              <a:rPr lang="en"/>
              <a:t> 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Gaslighting</a:t>
            </a:r>
            <a:r>
              <a:rPr lang="en" sz="1400">
                <a:solidFill>
                  <a:schemeClr val="dk1"/>
                </a:solidFill>
              </a:rPr>
              <a:t>: "You're remembering it wrong..." scored 0.51 for manipulation. Because the threshold is 0.6, the model labeled this as </a:t>
            </a:r>
            <a:r>
              <a:rPr b="1" lang="en" sz="1400">
                <a:solidFill>
                  <a:schemeClr val="dk1"/>
                </a:solidFill>
              </a:rPr>
              <a:t>CONTROL</a:t>
            </a:r>
            <a:r>
              <a:rPr lang="en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Blame Shifting</a:t>
            </a:r>
            <a:r>
              <a:rPr lang="en" sz="1400">
                <a:solidFill>
                  <a:schemeClr val="dk1"/>
                </a:solidFill>
              </a:rPr>
              <a:t>: "It's your fault I got angry..." scored 0.31. This suggests the model doesn't yet fully recognize "responsibility-shifting" as a manipulative tactic.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A point about the threshold: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By keeping the threshold at </a:t>
            </a:r>
            <a:r>
              <a:rPr b="1" lang="en" sz="1400">
                <a:solidFill>
                  <a:schemeClr val="dk1"/>
                </a:solidFill>
              </a:rPr>
              <a:t>0.6</a:t>
            </a:r>
            <a:r>
              <a:rPr lang="en" sz="1400">
                <a:solidFill>
                  <a:schemeClr val="dk1"/>
                </a:solidFill>
              </a:rPr>
              <a:t>, the model became and </a:t>
            </a:r>
            <a:r>
              <a:rPr b="1" lang="en" sz="1400">
                <a:solidFill>
                  <a:schemeClr val="dk1"/>
                </a:solidFill>
              </a:rPr>
              <a:t>conservative </a:t>
            </a:r>
            <a:r>
              <a:rPr lang="en" sz="1400">
                <a:solidFill>
                  <a:schemeClr val="dk1"/>
                </a:solidFill>
              </a:rPr>
              <a:t>and reduced the “false alarms”. But this conservativeness does not flag subtle manipulations </a:t>
            </a:r>
            <a:r>
              <a:rPr lang="en" sz="1400">
                <a:solidFill>
                  <a:schemeClr val="dk1"/>
                </a:solidFill>
              </a:rPr>
              <a:t>which</a:t>
            </a:r>
            <a:r>
              <a:rPr lang="en" sz="1400">
                <a:solidFill>
                  <a:schemeClr val="dk1"/>
                </a:solidFill>
              </a:rPr>
              <a:t> are in the gray area/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By keeping the threshold at </a:t>
            </a:r>
            <a:r>
              <a:rPr b="1" lang="en" sz="1400">
                <a:solidFill>
                  <a:schemeClr val="dk1"/>
                </a:solidFill>
              </a:rPr>
              <a:t>0.5</a:t>
            </a:r>
            <a:r>
              <a:rPr lang="en" sz="1400">
                <a:solidFill>
                  <a:schemeClr val="dk1"/>
                </a:solidFill>
              </a:rPr>
              <a:t>, the model becomes </a:t>
            </a:r>
            <a:r>
              <a:rPr b="1" lang="en" sz="1400">
                <a:solidFill>
                  <a:schemeClr val="dk1"/>
                </a:solidFill>
              </a:rPr>
              <a:t>brave </a:t>
            </a:r>
            <a:r>
              <a:rPr lang="en" sz="1400">
                <a:solidFill>
                  <a:schemeClr val="dk1"/>
                </a:solidFill>
              </a:rPr>
              <a:t>and flagged even the </a:t>
            </a:r>
            <a:r>
              <a:rPr lang="en" sz="1400">
                <a:solidFill>
                  <a:schemeClr val="dk1"/>
                </a:solidFill>
              </a:rPr>
              <a:t>boundary</a:t>
            </a:r>
            <a:r>
              <a:rPr lang="en" sz="1400">
                <a:solidFill>
                  <a:schemeClr val="dk1"/>
                </a:solidFill>
              </a:rPr>
              <a:t> manipulation scenarios. But, it becomes </a:t>
            </a:r>
            <a:r>
              <a:rPr b="1" lang="en" sz="1400">
                <a:solidFill>
                  <a:schemeClr val="dk1"/>
                </a:solidFill>
              </a:rPr>
              <a:t>sensitive </a:t>
            </a:r>
            <a:r>
              <a:rPr lang="en" sz="1400">
                <a:solidFill>
                  <a:schemeClr val="dk1"/>
                </a:solidFill>
              </a:rPr>
              <a:t>and flags manipulations even for some close control cases.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So depending upon the scenario, the users can change the threshold of the model to fit </a:t>
            </a:r>
            <a:r>
              <a:rPr lang="en" sz="1400">
                <a:solidFill>
                  <a:schemeClr val="dk1"/>
                </a:solidFill>
              </a:rPr>
              <a:t>their</a:t>
            </a:r>
            <a:r>
              <a:rPr lang="en" sz="1400">
                <a:solidFill>
                  <a:schemeClr val="dk1"/>
                </a:solidFill>
              </a:rPr>
              <a:t> use case, whether they want a conservative or sensitive model.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Conclusions</a:t>
            </a:r>
            <a:endParaRPr/>
          </a:p>
        </p:txBody>
      </p:sp>
      <p:sp>
        <p:nvSpPr>
          <p:cNvPr id="192" name="Google Shape;192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</a:rPr>
              <a:t>Dataset quality mattered most</a:t>
            </a:r>
            <a:r>
              <a:rPr lang="en" sz="1400">
                <a:solidFill>
                  <a:schemeClr val="dk1"/>
                </a:solidFill>
              </a:rPr>
              <a:t>: CLEAN dataset consistently outperformed MAJ and CON.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</a:rPr>
              <a:t>Baseline model was biased</a:t>
            </a:r>
            <a:r>
              <a:rPr lang="en" sz="1400">
                <a:solidFill>
                  <a:schemeClr val="dk1"/>
                </a:solidFill>
              </a:rPr>
              <a:t>: High accuracy but poor control (minority) detection 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</a:rPr>
              <a:t>Class weighting + threshold tuning fixed imbalance</a:t>
            </a:r>
            <a:r>
              <a:rPr lang="en" sz="1400">
                <a:solidFill>
                  <a:schemeClr val="dk1"/>
                </a:solidFill>
              </a:rPr>
              <a:t>: Control recall improved significantly (0.38 → 0.66) and achieved more balanced predictions.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</a:rPr>
              <a:t>LoRA improved efficiency with minimal performance loss</a:t>
            </a:r>
            <a:r>
              <a:rPr lang="en" sz="1400">
                <a:solidFill>
                  <a:schemeClr val="dk1"/>
                </a:solidFill>
              </a:rPr>
              <a:t>: ~1% parameters trained while maintaining/improving Macro F1.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</a:rPr>
              <a:t>CLEAN Fine-tuned DistilBERT + LoRA turned out to be the best model</a:t>
            </a:r>
            <a:r>
              <a:rPr lang="en" sz="1400">
                <a:solidFill>
                  <a:schemeClr val="dk1"/>
                </a:solidFill>
              </a:rPr>
              <a:t>: Highest Macro F1 with good balance and efficiency.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</a:rPr>
              <a:t>Threshold tuning according to user choice</a:t>
            </a:r>
            <a:r>
              <a:rPr lang="en" sz="1400">
                <a:solidFill>
                  <a:schemeClr val="dk1"/>
                </a:solidFill>
              </a:rPr>
              <a:t>: The thresholds can be change according to intended model behaviour. From conservative to brave.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